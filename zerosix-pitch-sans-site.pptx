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title"/>
          <p:cNvSpPr/>
          <p:nvPr/>
        </p:nvSpPr>
        <p:spPr>
          <a:xfrm>
            <a:off x="640080" y="457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 un client entend parler de vous aujourd'hui,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 trouve-t-il ?</a:t>
            </a:r>
            <a:endParaRPr lang="en-US" sz="3200" dirty="0"/>
          </a:p>
        </p:txBody>
      </p:sp>
      <p:sp>
        <p:nvSpPr>
          <p:cNvPr id="3" name="s1-subtitle"/>
          <p:cNvSpPr/>
          <p:nvPr/>
        </p:nvSpPr>
        <p:spPr>
          <a:xfrm>
            <a:off x="1371600" y="1783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Avant d'appeler, beaucoup de clients vérifient en ligne.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 qu'ils trouvent — ou ne trouvent pas — influence déjà leur niveau de confiance.</a:t>
            </a:r>
            <a:endParaRPr lang="en-US" sz="1200" dirty="0"/>
          </a:p>
        </p:txBody>
      </p:sp>
      <p:pic>
        <p:nvPicPr>
          <p:cNvPr id="4" name="s1-search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926080"/>
            <a:ext cx="4389120" cy="512064"/>
          </a:xfrm>
          <a:prstGeom prst="rect">
            <a:avLst/>
          </a:prstGeom>
        </p:spPr>
      </p:pic>
      <p:sp>
        <p:nvSpPr>
          <p:cNvPr id="5" name="s1-card-0"/>
          <p:cNvSpPr/>
          <p:nvPr/>
        </p:nvSpPr>
        <p:spPr>
          <a:xfrm>
            <a:off x="822960" y="23774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2C2C2E">
              <a:alpha val="4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1-card-1"/>
          <p:cNvSpPr/>
          <p:nvPr/>
        </p:nvSpPr>
        <p:spPr>
          <a:xfrm>
            <a:off x="6858000" y="228600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2C2C2E">
              <a:alpha val="4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1-card-2"/>
          <p:cNvSpPr/>
          <p:nvPr/>
        </p:nvSpPr>
        <p:spPr>
          <a:xfrm>
            <a:off x="1097280" y="3931920"/>
            <a:ext cx="1280160" cy="777240"/>
          </a:xfrm>
          <a:prstGeom prst="roundRect">
            <a:avLst>
              <a:gd name="adj" fmla="val 14118"/>
            </a:avLst>
          </a:prstGeom>
          <a:solidFill>
            <a:srgbClr val="2C2C2E">
              <a:alpha val="4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1-card-3"/>
          <p:cNvSpPr/>
          <p:nvPr/>
        </p:nvSpPr>
        <p:spPr>
          <a:xfrm>
            <a:off x="6675120" y="384048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2C2C2E">
              <a:alpha val="40000"/>
            </a:srgbClr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5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53" presetClass="entr" presetSubtype="0" fill="hold" grpId="3" nodeType="withEffect">
                      <p:stCondLst>
                        <p:cond delay="1000"/>
                      </p:stCondLst>
                      <p:childTnLst>
                        <p:set>
                          <p:cBhvr>
                            <p:cTn id="10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09" dur="800" fill="hold"/>
                            <p:tgtEl>
                              <p:spTgt spid="4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11" dur="8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2" presetID="10" presetClass="entr" presetSubtype="0" fill="hold" grpId="4" nodeType="withEffect">
                      <p:stCondLst>
                        <p:cond delay="1600"/>
                      </p:stCondLst>
                      <p:childTnLst>
                        <p:set>
                          <p:cBhvr>
                            <p:cTn id="113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" dur="800" fill="hold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15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" dur="800" fill="hold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117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8" dur="800" fill="hold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119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0" dur="8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title"/>
          <p:cNvSpPr/>
          <p:nvPr/>
        </p:nvSpPr>
        <p:spPr>
          <a:xfrm>
            <a:off x="640080" y="411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premier contact commence souvent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avant le premier appel.</a:t>
            </a:r>
            <a:endParaRPr lang="en-US" sz="2800" dirty="0"/>
          </a:p>
        </p:txBody>
      </p:sp>
      <p:sp>
        <p:nvSpPr>
          <p:cNvPr id="3" name="s2-subtitle"/>
          <p:cNvSpPr/>
          <p:nvPr/>
        </p:nvSpPr>
        <p:spPr>
          <a:xfrm>
            <a:off x="640080" y="1508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Aujourd'hui, un client veut comprendre rapidement qui vous êtes, ce que vous faites, et s'il peut vous faire confiance.</a:t>
            </a:r>
            <a:endParaRPr lang="en-US" sz="1300" dirty="0"/>
          </a:p>
        </p:txBody>
      </p:sp>
      <p:sp>
        <p:nvSpPr>
          <p:cNvPr id="4" name="s2-step-0"/>
          <p:cNvSpPr/>
          <p:nvPr/>
        </p:nvSpPr>
        <p:spPr>
          <a:xfrm>
            <a:off x="822960" y="246888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2C2C2E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2-step-0-icon-bg"/>
          <p:cNvSpPr/>
          <p:nvPr/>
        </p:nvSpPr>
        <p:spPr>
          <a:xfrm>
            <a:off x="1856232" y="2697480"/>
            <a:ext cx="402336" cy="402336"/>
          </a:xfrm>
          <a:prstGeom prst="ellipse">
            <a:avLst/>
          </a:prstGeom>
          <a:solidFill>
            <a:srgbClr val="1DF06A">
              <a:alpha val="15000"/>
            </a:srgbClr>
          </a:solidFill>
          <a:ln w="12700">
            <a:solidFill>
              <a:srgbClr val="1DF06A">
                <a:alpha val="50000"/>
              </a:srgbClr>
            </a:solidFill>
            <a:prstDash val="solid"/>
          </a:ln>
        </p:spPr>
      </p:sp>
      <p:pic>
        <p:nvPicPr>
          <p:cNvPr id="6" name="s2-step-0-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761488"/>
            <a:ext cx="274320" cy="274320"/>
          </a:xfrm>
          <a:prstGeom prst="rect">
            <a:avLst/>
          </a:prstGeom>
        </p:spPr>
      </p:pic>
      <p:sp>
        <p:nvSpPr>
          <p:cNvPr id="7" name="s2-step-0-num"/>
          <p:cNvSpPr/>
          <p:nvPr/>
        </p:nvSpPr>
        <p:spPr>
          <a:xfrm>
            <a:off x="96012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F06A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s2-step-0-text"/>
          <p:cNvSpPr/>
          <p:nvPr/>
        </p:nvSpPr>
        <p:spPr>
          <a:xfrm>
            <a:off x="96012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 entend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parler de vous</a:t>
            </a:r>
            <a:endParaRPr lang="en-US" sz="1000" dirty="0"/>
          </a:p>
        </p:txBody>
      </p:sp>
      <p:sp>
        <p:nvSpPr>
          <p:cNvPr id="9" name="s2-arrow-0"/>
          <p:cNvSpPr/>
          <p:nvPr/>
        </p:nvSpPr>
        <p:spPr>
          <a:xfrm>
            <a:off x="3246120" y="3429000"/>
            <a:ext cx="365760" cy="0"/>
          </a:xfrm>
          <a:prstGeom prst="line">
            <a:avLst/>
          </a:prstGeom>
          <a:noFill/>
          <a:ln w="12700">
            <a:solidFill>
              <a:srgbClr val="1DF06A">
                <a:alpha val="50000"/>
              </a:srgbClr>
            </a:solidFill>
            <a:prstDash val="solid"/>
          </a:ln>
        </p:spPr>
      </p:sp>
      <p:sp>
        <p:nvSpPr>
          <p:cNvPr id="10" name="s2-step-1"/>
          <p:cNvSpPr/>
          <p:nvPr/>
        </p:nvSpPr>
        <p:spPr>
          <a:xfrm>
            <a:off x="3611880" y="246888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2C2C2E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2-step-1-icon-bg"/>
          <p:cNvSpPr/>
          <p:nvPr/>
        </p:nvSpPr>
        <p:spPr>
          <a:xfrm>
            <a:off x="4645152" y="2697480"/>
            <a:ext cx="402336" cy="402336"/>
          </a:xfrm>
          <a:prstGeom prst="ellipse">
            <a:avLst/>
          </a:prstGeom>
          <a:solidFill>
            <a:srgbClr val="1DF06A">
              <a:alpha val="15000"/>
            </a:srgbClr>
          </a:solidFill>
          <a:ln w="12700">
            <a:solidFill>
              <a:srgbClr val="1DF06A">
                <a:alpha val="50000"/>
              </a:srgbClr>
            </a:solidFill>
            <a:prstDash val="solid"/>
          </a:ln>
        </p:spPr>
      </p:sp>
      <p:pic>
        <p:nvPicPr>
          <p:cNvPr id="12" name="s2-step-1-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761488"/>
            <a:ext cx="274320" cy="274320"/>
          </a:xfrm>
          <a:prstGeom prst="rect">
            <a:avLst/>
          </a:prstGeom>
        </p:spPr>
      </p:pic>
      <p:sp>
        <p:nvSpPr>
          <p:cNvPr id="13" name="s2-step-1-num"/>
          <p:cNvSpPr/>
          <p:nvPr/>
        </p:nvSpPr>
        <p:spPr>
          <a:xfrm>
            <a:off x="374904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F06A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s2-step-1-text"/>
          <p:cNvSpPr/>
          <p:nvPr/>
        </p:nvSpPr>
        <p:spPr>
          <a:xfrm>
            <a:off x="374904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 vous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cherche</a:t>
            </a:r>
            <a:endParaRPr lang="en-US" sz="1000" dirty="0"/>
          </a:p>
        </p:txBody>
      </p:sp>
      <p:sp>
        <p:nvSpPr>
          <p:cNvPr id="15" name="s2-arrow-1"/>
          <p:cNvSpPr/>
          <p:nvPr/>
        </p:nvSpPr>
        <p:spPr>
          <a:xfrm>
            <a:off x="6035040" y="3429000"/>
            <a:ext cx="365760" cy="0"/>
          </a:xfrm>
          <a:prstGeom prst="line">
            <a:avLst/>
          </a:prstGeom>
          <a:noFill/>
          <a:ln w="12700">
            <a:solidFill>
              <a:srgbClr val="1DF06A">
                <a:alpha val="50000"/>
              </a:srgbClr>
            </a:solidFill>
            <a:prstDash val="solid"/>
          </a:ln>
        </p:spPr>
      </p:sp>
      <p:sp>
        <p:nvSpPr>
          <p:cNvPr id="16" name="s2-step-2"/>
          <p:cNvSpPr/>
          <p:nvPr/>
        </p:nvSpPr>
        <p:spPr>
          <a:xfrm>
            <a:off x="6400800" y="246888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2C2C2E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2-step-2-icon-bg"/>
          <p:cNvSpPr/>
          <p:nvPr/>
        </p:nvSpPr>
        <p:spPr>
          <a:xfrm>
            <a:off x="7434072" y="2697480"/>
            <a:ext cx="402336" cy="402336"/>
          </a:xfrm>
          <a:prstGeom prst="ellipse">
            <a:avLst/>
          </a:prstGeom>
          <a:solidFill>
            <a:srgbClr val="1DF06A">
              <a:alpha val="15000"/>
            </a:srgbClr>
          </a:solidFill>
          <a:ln w="12700">
            <a:solidFill>
              <a:srgbClr val="1DF06A">
                <a:alpha val="50000"/>
              </a:srgbClr>
            </a:solidFill>
            <a:prstDash val="solid"/>
          </a:ln>
        </p:spPr>
      </p:sp>
      <p:pic>
        <p:nvPicPr>
          <p:cNvPr id="18" name="s2-step-2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761488"/>
            <a:ext cx="274320" cy="274320"/>
          </a:xfrm>
          <a:prstGeom prst="rect">
            <a:avLst/>
          </a:prstGeom>
        </p:spPr>
      </p:pic>
      <p:sp>
        <p:nvSpPr>
          <p:cNvPr id="19" name="s2-step-2-num"/>
          <p:cNvSpPr/>
          <p:nvPr/>
        </p:nvSpPr>
        <p:spPr>
          <a:xfrm>
            <a:off x="653796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F06A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2-step-2-text"/>
          <p:cNvSpPr/>
          <p:nvPr/>
        </p:nvSpPr>
        <p:spPr>
          <a:xfrm>
            <a:off x="653796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 décide s'il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vous contacte</a:t>
            </a:r>
            <a:endParaRPr lang="en-US" sz="1000" dirty="0"/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4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2" presetClass="entr" presetSubtype="1" fill="hold" grpId="3" nodeType="withEffect">
                      <p:stCondLst>
                        <p:cond delay="900"/>
                      </p:stCondLst>
                      <p:childTnLst>
                        <p:set>
                          <p:cBhvr>
                            <p:cTn id="10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09" dur="800" fill="hold"/>
                            <p:tgtEl>
                              <p:spTgt spid="4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0" dur="800" fill="hold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11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800" fill="hold"/>
                            <p:tgtEl>
                              <p:spTgt spid="5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3" dur="800" fill="hold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14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5" dur="8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6" dur="800" fill="hold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117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8" dur="80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9" dur="800" fill="hold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120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1" dur="800" fill="hold"/>
                            <p:tgtEl>
                              <p:spTgt spid="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2" dur="8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23" presetID="10" presetClass="entr" presetSubtype="0" fill="hold" grpId="4" nodeType="withEffect">
                      <p:stCondLst>
                        <p:cond delay="1300"/>
                      </p:stCondLst>
                      <p:childTnLst>
                        <p:set>
                          <p:cBhvr>
                            <p:cTn id="124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" dur="8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26" presetID="2" presetClass="entr" presetSubtype="1" fill="hold" grpId="5" nodeType="withEffect">
                      <p:stCondLst>
                        <p:cond delay="1500"/>
                      </p:stCondLst>
                      <p:childTnLst>
                        <p:set>
                          <p:cBhvr>
                            <p:cTn id="12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8" dur="80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9" dur="800" fill="hold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130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1" dur="80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2" dur="80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4" dur="800" fill="hold"/>
                            <p:tgtEl>
                              <p:spTgt spid="12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5" dur="800" fill="hold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136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7" dur="800" fill="hold"/>
                            <p:tgtEl>
                              <p:spTgt spid="1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8" dur="800" fill="hold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39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40" dur="800" fill="hold"/>
                            <p:tgtEl>
                              <p:spTgt spid="14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41" dur="8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42" presetID="10" presetClass="entr" presetSubtype="0" fill="hold" grpId="6" nodeType="withEffect">
                      <p:stCondLst>
                        <p:cond delay="1900"/>
                      </p:stCondLst>
                      <p:childTnLst>
                        <p:set>
                          <p:cBhvr>
                            <p:cTn id="143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4" dur="8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45" presetID="2" presetClass="entr" presetSubtype="1" fill="hold" grpId="7" nodeType="withEffect">
                      <p:stCondLst>
                        <p:cond delay="2100"/>
                      </p:stCondLst>
                      <p:childTnLst>
                        <p:set>
                          <p:cBhvr>
                            <p:cTn id="146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47" dur="800" fill="hold"/>
                            <p:tgtEl>
                              <p:spTgt spid="1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48" dur="800" fill="hold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id="149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0" dur="80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51" dur="800" fill="hold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id="152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3" dur="80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54" dur="800" fill="hold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id="155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6" dur="80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57" dur="800" fill="hold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id="158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9" dur="80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60" dur="80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-title"/>
          <p:cNvSpPr/>
          <p:nvPr/>
        </p:nvSpPr>
        <p:spPr>
          <a:xfrm>
            <a:off x="640080" y="411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 il ne trouve rien de clair,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doute s'installe.</a:t>
            </a:r>
            <a:endParaRPr lang="en-US" sz="2800" dirty="0"/>
          </a:p>
        </p:txBody>
      </p:sp>
      <p:sp>
        <p:nvSpPr>
          <p:cNvPr id="3" name="s3-subtitle"/>
          <p:cNvSpPr/>
          <p:nvPr/>
        </p:nvSpPr>
        <p:spPr>
          <a:xfrm>
            <a:off x="640080" y="1508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client ne pense pas forcément que l'entreprise est mauvaise.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 pense simplement : "Je ne sais pas assez."</a:t>
            </a:r>
            <a:endParaRPr lang="en-US" sz="1300" dirty="0"/>
          </a:p>
        </p:txBody>
      </p:sp>
      <p:pic>
        <p:nvPicPr>
          <p:cNvPr id="4" name="s3-phone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011680" cy="4023360"/>
          </a:xfrm>
          <a:prstGeom prst="rect">
            <a:avLst/>
          </a:prstGeom>
        </p:spPr>
      </p:pic>
      <p:sp>
        <p:nvSpPr>
          <p:cNvPr id="5" name="s3-doubt-card"/>
          <p:cNvSpPr/>
          <p:nvPr/>
        </p:nvSpPr>
        <p:spPr>
          <a:xfrm>
            <a:off x="3657600" y="2926080"/>
            <a:ext cx="1645920" cy="822960"/>
          </a:xfrm>
          <a:prstGeom prst="roundRect">
            <a:avLst>
              <a:gd name="adj" fmla="val 16667"/>
            </a:avLst>
          </a:prstGeom>
          <a:solidFill>
            <a:srgbClr val="2C2C2E">
              <a:alpha val="70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3-doubt-text"/>
          <p:cNvSpPr/>
          <p:nvPr/>
        </p:nvSpPr>
        <p:spPr>
          <a:xfrm>
            <a:off x="365760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doute</a:t>
            </a:r>
            <a:endParaRPr lang="en-US" sz="1800" dirty="0"/>
          </a:p>
        </p:txBody>
      </p:sp>
      <p:sp>
        <p:nvSpPr>
          <p:cNvPr id="7" name="s3-thought-0"/>
          <p:cNvSpPr/>
          <p:nvPr/>
        </p:nvSpPr>
        <p:spPr>
          <a:xfrm>
            <a:off x="502920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assez d'infos</a:t>
            </a:r>
            <a:endParaRPr lang="en-US" sz="1000" dirty="0"/>
          </a:p>
        </p:txBody>
      </p:sp>
      <p:sp>
        <p:nvSpPr>
          <p:cNvPr id="8" name="s3-thought-1"/>
          <p:cNvSpPr/>
          <p:nvPr/>
        </p:nvSpPr>
        <p:spPr>
          <a:xfrm>
            <a:off x="6217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de photos</a:t>
            </a:r>
            <a:endParaRPr lang="en-US" sz="1000" dirty="0"/>
          </a:p>
        </p:txBody>
      </p:sp>
      <p:sp>
        <p:nvSpPr>
          <p:cNvPr id="9" name="s3-thought-2"/>
          <p:cNvSpPr/>
          <p:nvPr/>
        </p:nvSpPr>
        <p:spPr>
          <a:xfrm>
            <a:off x="530352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de preuve</a:t>
            </a:r>
            <a:endParaRPr lang="en-US" sz="1000" dirty="0"/>
          </a:p>
        </p:txBody>
      </p:sp>
      <p:sp>
        <p:nvSpPr>
          <p:cNvPr id="10" name="s3-thought-3"/>
          <p:cNvSpPr/>
          <p:nvPr/>
        </p:nvSpPr>
        <p:spPr>
          <a:xfrm>
            <a:off x="64008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clair</a:t>
            </a:r>
            <a:endParaRPr lang="en-US" sz="1000" dirty="0"/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4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10" presetClass="entr" presetSubtype="0" fill="hold" grpId="3" nodeType="withEffect">
                      <p:stCondLst>
                        <p:cond delay="800"/>
                      </p:stCondLst>
                      <p:childTnLst>
                        <p:set>
                          <p:cBhvr>
                            <p:cTn id="10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8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grpId="4" nodeType="withEffect">
                      <p:stCondLst>
                        <p:cond delay="140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800" fill="hold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1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" dur="8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5" presetID="42" presetClass="entr" presetSubtype="8" fill="hold" grpId="5" nodeType="withEffect">
                      <p:stCondLst>
                        <p:cond delay="1800"/>
                      </p:stCondLst>
                      <p:childTnLst>
                        <p:set>
                          <p:cBhvr>
                            <p:cTn id="11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7" dur="80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8" dur="8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19" presetID="42" presetClass="entr" presetSubtype="8" fill="hold" grpId="6" nodeType="withEffect">
                      <p:stCondLst>
                        <p:cond delay="2100"/>
                      </p:stCondLst>
                      <p:childTnLst>
                        <p:set>
                          <p:cBhvr>
                            <p:cTn id="120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1" dur="800" fill="hold"/>
                            <p:tgtEl>
                              <p:spTgt spid="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2" dur="8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23" presetID="42" presetClass="entr" presetSubtype="8" fill="hold" grpId="7" nodeType="withEffect">
                      <p:stCondLst>
                        <p:cond delay="2400"/>
                      </p:stCondLst>
                      <p:childTnLst>
                        <p:set>
                          <p:cBhvr>
                            <p:cTn id="124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5" dur="80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6" dur="8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27" presetID="42" presetClass="entr" presetSubtype="8" fill="hold" grpId="8" nodeType="withEffect">
                      <p:stCondLst>
                        <p:cond delay="2700"/>
                      </p:stCondLst>
                      <p:childTnLst>
                        <p:set>
                          <p:cBhvr>
                            <p:cTn id="12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9" dur="80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0" dur="8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-title"/>
          <p:cNvSpPr/>
          <p:nvPr/>
        </p:nvSpPr>
        <p:spPr>
          <a:xfrm>
            <a:off x="640080" y="411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bon site ne sert pas à faire joli.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 sert à rassurer.</a:t>
            </a:r>
            <a:endParaRPr lang="en-US" sz="2800" dirty="0"/>
          </a:p>
        </p:txBody>
      </p:sp>
      <p:sp>
        <p:nvSpPr>
          <p:cNvPr id="3" name="s4-subtitle"/>
          <p:cNvSpPr/>
          <p:nvPr/>
        </p:nvSpPr>
        <p:spPr>
          <a:xfrm>
            <a:off x="640080" y="1508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quelques secondes, il doit répondre aux questions que le client se pose déjà.</a:t>
            </a:r>
            <a:endParaRPr lang="en-US" sz="1300" dirty="0"/>
          </a:p>
        </p:txBody>
      </p:sp>
      <p:sp>
        <p:nvSpPr>
          <p:cNvPr id="4" name="s4-card-0"/>
          <p:cNvSpPr/>
          <p:nvPr/>
        </p:nvSpPr>
        <p:spPr>
          <a:xfrm>
            <a:off x="822960" y="2286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A1A1A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s4-icon-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365760" cy="365760"/>
          </a:xfrm>
          <a:prstGeom prst="rect">
            <a:avLst/>
          </a:prstGeom>
        </p:spPr>
      </p:pic>
      <p:sp>
        <p:nvSpPr>
          <p:cNvPr id="6" name="s4-text-0"/>
          <p:cNvSpPr/>
          <p:nvPr/>
        </p:nvSpPr>
        <p:spPr>
          <a:xfrm>
            <a:off x="155448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 êtes-vous ?</a:t>
            </a:r>
            <a:endParaRPr lang="en-US" sz="1400" dirty="0"/>
          </a:p>
        </p:txBody>
      </p:sp>
      <p:sp>
        <p:nvSpPr>
          <p:cNvPr id="7" name="s4-card-1"/>
          <p:cNvSpPr/>
          <p:nvPr/>
        </p:nvSpPr>
        <p:spPr>
          <a:xfrm>
            <a:off x="4754880" y="2286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A1A1A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8" name="s4-icon-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06040"/>
            <a:ext cx="365760" cy="365760"/>
          </a:xfrm>
          <a:prstGeom prst="rect">
            <a:avLst/>
          </a:prstGeom>
        </p:spPr>
      </p:pic>
      <p:sp>
        <p:nvSpPr>
          <p:cNvPr id="9" name="s4-text-1"/>
          <p:cNvSpPr/>
          <p:nvPr/>
        </p:nvSpPr>
        <p:spPr>
          <a:xfrm>
            <a:off x="548640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 proposez-vous ?</a:t>
            </a:r>
            <a:endParaRPr lang="en-US" sz="1400" dirty="0"/>
          </a:p>
        </p:txBody>
      </p:sp>
      <p:sp>
        <p:nvSpPr>
          <p:cNvPr id="10" name="s4-card-2"/>
          <p:cNvSpPr/>
          <p:nvPr/>
        </p:nvSpPr>
        <p:spPr>
          <a:xfrm>
            <a:off x="822960" y="36576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A1A1A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s4-icon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977640"/>
            <a:ext cx="365760" cy="365760"/>
          </a:xfrm>
          <a:prstGeom prst="rect">
            <a:avLst/>
          </a:prstGeom>
        </p:spPr>
      </p:pic>
      <p:sp>
        <p:nvSpPr>
          <p:cNvPr id="12" name="s4-text-2"/>
          <p:cNvSpPr/>
          <p:nvPr/>
        </p:nvSpPr>
        <p:spPr>
          <a:xfrm>
            <a:off x="155448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Pourquoi vous faire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confiance ?</a:t>
            </a:r>
            <a:endParaRPr lang="en-US" sz="1400" dirty="0"/>
          </a:p>
        </p:txBody>
      </p:sp>
      <p:sp>
        <p:nvSpPr>
          <p:cNvPr id="13" name="s4-card-3"/>
          <p:cNvSpPr/>
          <p:nvPr/>
        </p:nvSpPr>
        <p:spPr>
          <a:xfrm>
            <a:off x="4754880" y="36576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A1A1A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s4-icon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77640"/>
            <a:ext cx="365760" cy="365760"/>
          </a:xfrm>
          <a:prstGeom prst="rect">
            <a:avLst/>
          </a:prstGeom>
        </p:spPr>
      </p:pic>
      <p:sp>
        <p:nvSpPr>
          <p:cNvPr id="15" name="s4-text-3"/>
          <p:cNvSpPr/>
          <p:nvPr/>
        </p:nvSpPr>
        <p:spPr>
          <a:xfrm>
            <a:off x="548640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 vous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contacter ?</a:t>
            </a:r>
            <a:endParaRPr lang="en-US" sz="1400" dirty="0"/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4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53" presetClass="entr" presetSubtype="0" fill="hold" grpId="3" nodeType="withEffect">
                      <p:stCondLst>
                        <p:cond delay="900"/>
                      </p:stCondLst>
                      <p:childTnLst>
                        <p:set>
                          <p:cBhvr>
                            <p:cTn id="10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09" dur="800" fill="hold"/>
                            <p:tgtEl>
                              <p:spTgt spid="4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11" dur="800" fill="hold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11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13" dur="800" fill="hold"/>
                            <p:tgtEl>
                              <p:spTgt spid="5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15" dur="800" fill="hold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16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17" dur="800" fill="hold"/>
                            <p:tgtEl>
                              <p:spTgt spid="6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19" dur="8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53" presetClass="entr" presetSubtype="0" fill="hold" grpId="4" nodeType="withEffect">
                      <p:stCondLst>
                        <p:cond delay="120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22" dur="800" fill="hold"/>
                            <p:tgtEl>
                              <p:spTgt spid="7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24" dur="800" fill="hold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125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26" dur="800" fill="hold"/>
                            <p:tgtEl>
                              <p:spTgt spid="8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28" dur="80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129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30" dur="800" fill="hold"/>
                            <p:tgtEl>
                              <p:spTgt spid="9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32" dur="8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33" presetID="53" presetClass="entr" presetSubtype="0" fill="hold" grpId="5" nodeType="withEffect">
                      <p:stCondLst>
                        <p:cond delay="1500"/>
                      </p:stCondLst>
                      <p:childTnLst>
                        <p:set>
                          <p:cBhvr>
                            <p:cTn id="134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35" dur="800" fill="hold"/>
                            <p:tgtEl>
                              <p:spTgt spid="10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37" dur="800" fill="hold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138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39" dur="800" fill="hold"/>
                            <p:tgtEl>
                              <p:spTgt spid="11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41" dur="80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4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43" dur="800" fill="hold"/>
                            <p:tgtEl>
                              <p:spTgt spid="12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45" dur="8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46" presetID="53" presetClass="entr" presetSubtype="0" fill="hold" grpId="6" nodeType="withEffect">
                      <p:stCondLst>
                        <p:cond delay="1800"/>
                      </p:stCondLst>
                      <p:childTnLst>
                        <p:set>
                          <p:cBhvr>
                            <p:cTn id="147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48" dur="800" fill="hold"/>
                            <p:tgtEl>
                              <p:spTgt spid="13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50" dur="800" fill="hold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51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52" dur="800" fill="hold"/>
                            <p:tgtEl>
                              <p:spTgt spid="14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54" dur="800" fill="hold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id="155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56" dur="800" fill="hold"/>
                            <p:tgtEl>
                              <p:spTgt spid="15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58" dur="8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-title"/>
          <p:cNvSpPr/>
          <p:nvPr/>
        </p:nvSpPr>
        <p:spPr>
          <a:xfrm>
            <a:off x="640080" y="411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ne construit pas juste un site.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construit une première impression.</a:t>
            </a:r>
            <a:endParaRPr lang="en-US" sz="2800" dirty="0"/>
          </a:p>
        </p:txBody>
      </p:sp>
      <p:sp>
        <p:nvSpPr>
          <p:cNvPr id="3" name="s5-subtitle"/>
          <p:cNvSpPr/>
          <p:nvPr/>
        </p:nvSpPr>
        <p:spPr>
          <a:xfrm>
            <a:off x="640080" y="1508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Votre site doit rendre votre activité claire, crédible et facile à contacter.</a:t>
            </a:r>
            <a:endParaRPr lang="en-US" sz="1300" dirty="0"/>
          </a:p>
        </p:txBody>
      </p:sp>
      <p:pic>
        <p:nvPicPr>
          <p:cNvPr id="4" name="s5-wireframe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114800" cy="2697480"/>
          </a:xfrm>
          <a:prstGeom prst="rect">
            <a:avLst/>
          </a:prstGeom>
        </p:spPr>
      </p:pic>
      <p:pic>
        <p:nvPicPr>
          <p:cNvPr id="5" name="s5-final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4114800" cy="2697480"/>
          </a:xfrm>
          <a:prstGeom prst="rect">
            <a:avLst/>
          </a:prstGeom>
        </p:spPr>
      </p:pic>
      <p:pic>
        <p:nvPicPr>
          <p:cNvPr id="6" name="s5-ph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560320"/>
            <a:ext cx="1371600" cy="2743200"/>
          </a:xfrm>
          <a:prstGeom prst="rect">
            <a:avLst/>
          </a:prstGeom>
        </p:spPr>
      </p:pic>
      <p:sp>
        <p:nvSpPr>
          <p:cNvPr id="7" name="s5-label-bg-0"/>
          <p:cNvSpPr/>
          <p:nvPr/>
        </p:nvSpPr>
        <p:spPr>
          <a:xfrm>
            <a:off x="6858000" y="22860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DF06A">
              <a:alpha val="12000"/>
            </a:srgbClr>
          </a:solidFill>
          <a:ln w="6350">
            <a:solidFill>
              <a:srgbClr val="1DF06A">
                <a:alpha val="40000"/>
              </a:srgbClr>
            </a:solidFill>
            <a:prstDash val="solid"/>
          </a:ln>
        </p:spPr>
      </p:sp>
      <p:sp>
        <p:nvSpPr>
          <p:cNvPr id="8" name="s5-label-0"/>
          <p:cNvSpPr/>
          <p:nvPr/>
        </p:nvSpPr>
        <p:spPr>
          <a:xfrm>
            <a:off x="685800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F0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Clarté</a:t>
            </a:r>
            <a:endParaRPr lang="en-US" sz="1100" dirty="0"/>
          </a:p>
        </p:txBody>
      </p:sp>
      <p:sp>
        <p:nvSpPr>
          <p:cNvPr id="9" name="s5-label-bg-1"/>
          <p:cNvSpPr/>
          <p:nvPr/>
        </p:nvSpPr>
        <p:spPr>
          <a:xfrm>
            <a:off x="6858000" y="288036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DF06A">
              <a:alpha val="12000"/>
            </a:srgbClr>
          </a:solidFill>
          <a:ln w="6350">
            <a:solidFill>
              <a:srgbClr val="1DF06A">
                <a:alpha val="40000"/>
              </a:srgbClr>
            </a:solidFill>
            <a:prstDash val="solid"/>
          </a:ln>
        </p:spPr>
      </p:sp>
      <p:sp>
        <p:nvSpPr>
          <p:cNvPr id="10" name="s5-label-1"/>
          <p:cNvSpPr/>
          <p:nvPr/>
        </p:nvSpPr>
        <p:spPr>
          <a:xfrm>
            <a:off x="685800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F0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Confiance</a:t>
            </a:r>
            <a:endParaRPr lang="en-US" sz="1100" dirty="0"/>
          </a:p>
        </p:txBody>
      </p:sp>
      <p:sp>
        <p:nvSpPr>
          <p:cNvPr id="11" name="s5-label-bg-2"/>
          <p:cNvSpPr/>
          <p:nvPr/>
        </p:nvSpPr>
        <p:spPr>
          <a:xfrm>
            <a:off x="6858000" y="347472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DF06A">
              <a:alpha val="12000"/>
            </a:srgbClr>
          </a:solidFill>
          <a:ln w="6350">
            <a:solidFill>
              <a:srgbClr val="1DF06A">
                <a:alpha val="40000"/>
              </a:srgbClr>
            </a:solidFill>
            <a:prstDash val="solid"/>
          </a:ln>
        </p:spPr>
      </p:sp>
      <p:sp>
        <p:nvSpPr>
          <p:cNvPr id="12" name="s5-label-2"/>
          <p:cNvSpPr/>
          <p:nvPr/>
        </p:nvSpPr>
        <p:spPr>
          <a:xfrm>
            <a:off x="685800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F0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Crédibilité</a:t>
            </a:r>
            <a:endParaRPr lang="en-US" sz="1100" dirty="0"/>
          </a:p>
        </p:txBody>
      </p:sp>
      <p:sp>
        <p:nvSpPr>
          <p:cNvPr id="13" name="s5-label-bg-3"/>
          <p:cNvSpPr/>
          <p:nvPr/>
        </p:nvSpPr>
        <p:spPr>
          <a:xfrm>
            <a:off x="6858000" y="40690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DF06A">
              <a:alpha val="12000"/>
            </a:srgbClr>
          </a:solidFill>
          <a:ln w="6350">
            <a:solidFill>
              <a:srgbClr val="1DF06A">
                <a:alpha val="40000"/>
              </a:srgbClr>
            </a:solidFill>
            <a:prstDash val="solid"/>
          </a:ln>
        </p:spPr>
      </p:sp>
      <p:sp>
        <p:nvSpPr>
          <p:cNvPr id="14" name="s5-label-3"/>
          <p:cNvSpPr/>
          <p:nvPr/>
        </p:nvSpPr>
        <p:spPr>
          <a:xfrm>
            <a:off x="6858000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F0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</a:t>
            </a:r>
            <a:endParaRPr lang="en-US" sz="1100" dirty="0"/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4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10" presetClass="entr" presetSubtype="0" fill="hold" grpId="3" nodeType="withEffect">
                      <p:stCondLst>
                        <p:cond delay="900"/>
                      </p:stCondLst>
                      <p:childTnLst>
                        <p:set>
                          <p:cBhvr>
                            <p:cTn id="10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8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grpId="4" nodeType="withEffect">
                      <p:stCondLst>
                        <p:cond delay="220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8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3" presetID="53" presetClass="entr" presetSubtype="0" fill="hold" grpId="5" nodeType="withEffect">
                      <p:stCondLst>
                        <p:cond delay="2800"/>
                      </p:stCondLst>
                      <p:childTnLst>
                        <p:set>
                          <p:cBhvr>
                            <p:cTn id="114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15" dur="800" fill="hold"/>
                            <p:tgtEl>
                              <p:spTgt spid="6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17" dur="8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8" presetID="10" presetClass="entr" presetSubtype="0" fill="hold" grpId="6" nodeType="withEffect">
                      <p:stCondLst>
                        <p:cond delay="3200"/>
                      </p:stCondLst>
                      <p:childTnLst>
                        <p:set>
                          <p:cBhvr>
                            <p:cTn id="11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0" dur="800" fill="hold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12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80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23" presetID="10" presetClass="entr" presetSubtype="0" fill="hold" grpId="7" nodeType="withEffect">
                      <p:stCondLst>
                        <p:cond delay="3500"/>
                      </p:stCondLst>
                      <p:childTnLst>
                        <p:set>
                          <p:cBhvr>
                            <p:cTn id="124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" dur="800" fill="hold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126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7" dur="8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28" presetID="10" presetClass="entr" presetSubtype="0" fill="hold" grpId="8" nodeType="withEffect">
                      <p:stCondLst>
                        <p:cond delay="3800"/>
                      </p:stCondLst>
                      <p:childTnLst>
                        <p:set>
                          <p:cBhvr>
                            <p:cTn id="129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0" dur="80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1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" dur="8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33" presetID="10" presetClass="entr" presetSubtype="0" fill="hold" grpId="9" nodeType="withEffect">
                      <p:stCondLst>
                        <p:cond delay="4100"/>
                      </p:stCondLst>
                      <p:childTnLst>
                        <p:set>
                          <p:cBhvr>
                            <p:cTn id="134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5" dur="800" fill="hold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36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7" dur="80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-title"/>
          <p:cNvSpPr/>
          <p:nvPr/>
        </p:nvSpPr>
        <p:spPr>
          <a:xfrm>
            <a:off x="640080" y="411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Même entreprise. Perception différente.</a:t>
            </a:r>
            <a:endParaRPr lang="en-US" sz="2800" dirty="0"/>
          </a:p>
        </p:txBody>
      </p:sp>
      <p:sp>
        <p:nvSpPr>
          <p:cNvPr id="3" name="s6-avant-label"/>
          <p:cNvSpPr/>
          <p:nvPr/>
        </p:nvSpPr>
        <p:spPr>
          <a:xfrm>
            <a:off x="8229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A1A6"/>
                </a:solidFill>
              </a:rPr>
              <a:t>Avant</a:t>
            </a:r>
            <a:endParaRPr lang="en-US" sz="1600" dirty="0"/>
          </a:p>
        </p:txBody>
      </p:sp>
      <p:sp>
        <p:nvSpPr>
          <p:cNvPr id="4" name="s6-avant-text"/>
          <p:cNvSpPr/>
          <p:nvPr/>
        </p:nvSpPr>
        <p:spPr>
          <a:xfrm>
            <a:off x="822960" y="1783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E73"/>
                </a:solidFill>
              </a:rPr>
              <a:t>Le client entend parler de vous.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E73"/>
                </a:solidFill>
              </a:rPr>
              <a:t>Il cherche.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E73"/>
                </a:solidFill>
              </a:rPr>
              <a:t>Il ne trouve pas assez.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E73"/>
                </a:solidFill>
              </a:rPr>
              <a:t>Il hésite.</a:t>
            </a:r>
            <a:endParaRPr lang="en-US" sz="1100" dirty="0"/>
          </a:p>
        </p:txBody>
      </p:sp>
      <p:pic>
        <p:nvPicPr>
          <p:cNvPr id="5" name="s6-avant-visual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00400"/>
            <a:ext cx="1828800" cy="2560320"/>
          </a:xfrm>
          <a:prstGeom prst="rect">
            <a:avLst/>
          </a:prstGeom>
        </p:spPr>
      </p:pic>
      <p:sp>
        <p:nvSpPr>
          <p:cNvPr id="6" name="s6-divider"/>
          <p:cNvSpPr/>
          <p:nvPr/>
        </p:nvSpPr>
        <p:spPr>
          <a:xfrm>
            <a:off x="4572000" y="1371600"/>
            <a:ext cx="0" cy="3657600"/>
          </a:xfrm>
          <a:prstGeom prst="line">
            <a:avLst/>
          </a:prstGeom>
          <a:noFill/>
          <a:ln w="25400">
            <a:solidFill>
              <a:srgbClr val="1DF06A">
                <a:alpha val="70000"/>
              </a:srgbClr>
            </a:solidFill>
            <a:prstDash val="solid"/>
          </a:ln>
        </p:spPr>
      </p:sp>
      <p:sp>
        <p:nvSpPr>
          <p:cNvPr id="7" name="s6-apres-label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F06A"/>
                </a:solidFill>
              </a:rPr>
              <a:t>Après</a:t>
            </a:r>
            <a:endParaRPr lang="en-US" sz="1600" dirty="0"/>
          </a:p>
        </p:txBody>
      </p:sp>
      <p:sp>
        <p:nvSpPr>
          <p:cNvPr id="8" name="s6-apres-text"/>
          <p:cNvSpPr/>
          <p:nvPr/>
        </p:nvSpPr>
        <p:spPr>
          <a:xfrm>
            <a:off x="4846320" y="1783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Il cherche.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Il comprend.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Il est rassuré.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Il vous contacte.</a:t>
            </a:r>
            <a:endParaRPr lang="en-US" sz="1100" dirty="0"/>
          </a:p>
        </p:txBody>
      </p:sp>
      <p:pic>
        <p:nvPicPr>
          <p:cNvPr id="9" name="s6-apres-visual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00400"/>
            <a:ext cx="1828800" cy="256032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5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id="10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" dur="800" fill="hold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109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" dur="8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1" presetID="10" presetClass="entr" presetSubtype="0" fill="hold" grpId="3" nodeType="withEffect">
                      <p:stCondLst>
                        <p:cond delay="2000"/>
                      </p:stCondLst>
                      <p:childTnLst>
                        <p:set>
                          <p:cBhvr>
                            <p:cTn id="1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" dur="8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4" presetID="10" presetClass="entr" presetSubtype="0" fill="hold" grpId="4" nodeType="withEffect">
                      <p:stCondLst>
                        <p:cond delay="2400"/>
                      </p:stCondLst>
                      <p:childTnLst>
                        <p:set>
                          <p:cBhvr>
                            <p:cTn id="115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" dur="800" fill="hold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117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8" dur="80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119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0" dur="8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-title"/>
          <p:cNvSpPr/>
          <p:nvPr/>
        </p:nvSpPr>
        <p:spPr>
          <a:xfrm>
            <a:off x="640080" y="411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présence simple, premium et utile.</a:t>
            </a:r>
            <a:endParaRPr lang="en-US" sz="2800" dirty="0"/>
          </a:p>
        </p:txBody>
      </p:sp>
      <p:sp>
        <p:nvSpPr>
          <p:cNvPr id="3" name="s7-subtitle"/>
          <p:cNvSpPr/>
          <p:nvPr/>
        </p:nvSpPr>
        <p:spPr>
          <a:xfrm>
            <a:off x="640080" y="1234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besoin d'un site compliqué. Il faut un site qui inspire confiance et guide le client vers l'action.</a:t>
            </a:r>
            <a:endParaRPr lang="en-US" sz="1300" dirty="0"/>
          </a:p>
        </p:txBody>
      </p:sp>
      <p:sp>
        <p:nvSpPr>
          <p:cNvPr id="4" name="s7-card-0"/>
          <p:cNvSpPr/>
          <p:nvPr/>
        </p:nvSpPr>
        <p:spPr>
          <a:xfrm>
            <a:off x="731520" y="21945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2C2C2E">
              <a:alpha val="6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5" name="s7-card-0-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95728"/>
            <a:ext cx="320040" cy="320040"/>
          </a:xfrm>
          <a:prstGeom prst="rect">
            <a:avLst/>
          </a:prstGeom>
        </p:spPr>
      </p:pic>
      <p:sp>
        <p:nvSpPr>
          <p:cNvPr id="6" name="s7-card-0-text"/>
          <p:cNvSpPr/>
          <p:nvPr/>
        </p:nvSpPr>
        <p:spPr>
          <a:xfrm>
            <a:off x="86868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professionnelle</a:t>
            </a:r>
            <a:endParaRPr lang="en-US" sz="1100" dirty="0"/>
          </a:p>
        </p:txBody>
      </p:sp>
      <p:sp>
        <p:nvSpPr>
          <p:cNvPr id="7" name="s7-card-1"/>
          <p:cNvSpPr/>
          <p:nvPr/>
        </p:nvSpPr>
        <p:spPr>
          <a:xfrm>
            <a:off x="3520440" y="21945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2C2C2E">
              <a:alpha val="6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8" name="s7-card-1-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395728"/>
            <a:ext cx="320040" cy="320040"/>
          </a:xfrm>
          <a:prstGeom prst="rect">
            <a:avLst/>
          </a:prstGeom>
        </p:spPr>
      </p:pic>
      <p:sp>
        <p:nvSpPr>
          <p:cNvPr id="9" name="s7-card-1-text"/>
          <p:cNvSpPr/>
          <p:nvPr/>
        </p:nvSpPr>
        <p:spPr>
          <a:xfrm>
            <a:off x="365760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clair</a:t>
            </a:r>
            <a:endParaRPr lang="en-US" sz="1100" dirty="0"/>
          </a:p>
        </p:txBody>
      </p:sp>
      <p:sp>
        <p:nvSpPr>
          <p:cNvPr id="10" name="s7-card-2"/>
          <p:cNvSpPr/>
          <p:nvPr/>
        </p:nvSpPr>
        <p:spPr>
          <a:xfrm>
            <a:off x="6309360" y="21945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2C2C2E">
              <a:alpha val="6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1" name="s7-card-2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95728"/>
            <a:ext cx="320040" cy="320040"/>
          </a:xfrm>
          <a:prstGeom prst="rect">
            <a:avLst/>
          </a:prstGeom>
        </p:spPr>
      </p:pic>
      <p:sp>
        <p:nvSpPr>
          <p:cNvPr id="12" name="s7-card-2-text"/>
          <p:cNvSpPr/>
          <p:nvPr/>
        </p:nvSpPr>
        <p:spPr>
          <a:xfrm>
            <a:off x="644652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mobile-first</a:t>
            </a:r>
            <a:endParaRPr lang="en-US" sz="1100" dirty="0"/>
          </a:p>
        </p:txBody>
      </p:sp>
      <p:sp>
        <p:nvSpPr>
          <p:cNvPr id="13" name="s7-card-3"/>
          <p:cNvSpPr/>
          <p:nvPr/>
        </p:nvSpPr>
        <p:spPr>
          <a:xfrm>
            <a:off x="731520" y="361188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2C2C2E">
              <a:alpha val="6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4" name="s7-card-3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13048"/>
            <a:ext cx="320040" cy="320040"/>
          </a:xfrm>
          <a:prstGeom prst="rect">
            <a:avLst/>
          </a:prstGeom>
        </p:spPr>
      </p:pic>
      <p:sp>
        <p:nvSpPr>
          <p:cNvPr id="15" name="s7-card-3-text"/>
          <p:cNvSpPr/>
          <p:nvPr/>
        </p:nvSpPr>
        <p:spPr>
          <a:xfrm>
            <a:off x="868680" y="4206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Preuves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confiance</a:t>
            </a:r>
            <a:endParaRPr lang="en-US" sz="1100" dirty="0"/>
          </a:p>
        </p:txBody>
      </p:sp>
      <p:sp>
        <p:nvSpPr>
          <p:cNvPr id="16" name="s7-card-4"/>
          <p:cNvSpPr/>
          <p:nvPr/>
        </p:nvSpPr>
        <p:spPr>
          <a:xfrm>
            <a:off x="3520440" y="361188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2C2C2E">
              <a:alpha val="6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7" name="s7-card-4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813048"/>
            <a:ext cx="320040" cy="320040"/>
          </a:xfrm>
          <a:prstGeom prst="rect">
            <a:avLst/>
          </a:prstGeom>
        </p:spPr>
      </p:pic>
      <p:sp>
        <p:nvSpPr>
          <p:cNvPr id="18" name="s7-card-4-text"/>
          <p:cNvSpPr/>
          <p:nvPr/>
        </p:nvSpPr>
        <p:spPr>
          <a:xfrm>
            <a:off x="3657600" y="4206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Appels 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l'action</a:t>
            </a:r>
            <a:endParaRPr lang="en-US" sz="1100" dirty="0"/>
          </a:p>
        </p:txBody>
      </p:sp>
      <p:sp>
        <p:nvSpPr>
          <p:cNvPr id="19" name="s7-card-5"/>
          <p:cNvSpPr/>
          <p:nvPr/>
        </p:nvSpPr>
        <p:spPr>
          <a:xfrm>
            <a:off x="6309360" y="361188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2C2C2E">
              <a:alpha val="6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0" name="s7-card-5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813048"/>
            <a:ext cx="320040" cy="320040"/>
          </a:xfrm>
          <a:prstGeom prst="rect">
            <a:avLst/>
          </a:prstGeom>
        </p:spPr>
      </p:pic>
      <p:sp>
        <p:nvSpPr>
          <p:cNvPr id="21" name="s7-card-5-text"/>
          <p:cNvSpPr/>
          <p:nvPr/>
        </p:nvSpPr>
        <p:spPr>
          <a:xfrm>
            <a:off x="6446520" y="4206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facile</a:t>
            </a:r>
            <a:endParaRPr lang="en-US" sz="1100" dirty="0"/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4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42" presetClass="entr" presetSubtype="8" fill="hold" grpId="3" nodeType="withEffect">
                      <p:stCondLst>
                        <p:cond delay="900"/>
                      </p:stCondLst>
                      <p:childTnLst>
                        <p:set>
                          <p:cBhvr>
                            <p:cTn id="10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09" dur="800" fill="hold"/>
                            <p:tgtEl>
                              <p:spTgt spid="4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0" dur="800" fill="hold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11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80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3" dur="800" fill="hold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14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5" dur="80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6" dur="8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7" presetID="42" presetClass="entr" presetSubtype="8" fill="hold" grpId="4" nodeType="withEffect">
                      <p:stCondLst>
                        <p:cond delay="1250"/>
                      </p:stCondLst>
                      <p:childTnLst>
                        <p:set>
                          <p:cBhvr>
                            <p:cTn id="118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9" dur="80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0" dur="800" fill="hold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12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2" dur="800" fill="hold"/>
                            <p:tgtEl>
                              <p:spTgt spid="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3" dur="80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124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5" dur="80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6" dur="80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27" presetID="42" presetClass="entr" presetSubtype="8" fill="hold" grpId="5" nodeType="withEffect">
                      <p:stCondLst>
                        <p:cond delay="1600"/>
                      </p:stCondLst>
                      <p:childTnLst>
                        <p:set>
                          <p:cBhvr>
                            <p:cTn id="12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9" dur="80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0" dur="800" fill="hold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13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2" dur="80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3" dur="80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4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5" dur="800" fill="hold"/>
                            <p:tgtEl>
                              <p:spTgt spid="1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6" dur="80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37" presetID="42" presetClass="entr" presetSubtype="8" fill="hold" grpId="6" nodeType="withEffect">
                      <p:stCondLst>
                        <p:cond delay="1950"/>
                      </p:stCondLst>
                      <p:childTnLst>
                        <p:set>
                          <p:cBhvr>
                            <p:cTn id="138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9" dur="800" fill="hold"/>
                            <p:tgtEl>
                              <p:spTgt spid="1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40" dur="800" fill="hold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41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42" dur="800" fill="hold"/>
                            <p:tgtEl>
                              <p:spTgt spid="14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43" dur="800" fill="hold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id="144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45" dur="800" fill="hold"/>
                            <p:tgtEl>
                              <p:spTgt spid="1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46" dur="80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47" presetID="42" presetClass="entr" presetSubtype="8" fill="hold" grpId="7" nodeType="withEffect">
                      <p:stCondLst>
                        <p:cond delay="2300"/>
                      </p:stCondLst>
                      <p:childTnLst>
                        <p:set>
                          <p:cBhvr>
                            <p:cTn id="148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49" dur="800" fill="hold"/>
                            <p:tgtEl>
                              <p:spTgt spid="1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50" dur="800" fill="hold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id="151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2" dur="80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53" dur="800" fill="hold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id="154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5" dur="80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56" dur="80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57" presetID="42" presetClass="entr" presetSubtype="8" fill="hold" grpId="8" nodeType="withEffect">
                      <p:stCondLst>
                        <p:cond delay="2650"/>
                      </p:stCondLst>
                      <p:childTnLst>
                        <p:set>
                          <p:cBhvr>
                            <p:cTn id="158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59" dur="80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60" dur="800" fill="hold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id="161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62" dur="80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63" dur="800" fill="hold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id="164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65" dur="80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8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66" dur="80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-title"/>
          <p:cNvSpPr/>
          <p:nvPr/>
        </p:nvSpPr>
        <p:spPr>
          <a:xfrm>
            <a:off x="640080" y="411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commence par vous montrer,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 par vous convaincre.</a:t>
            </a:r>
            <a:endParaRPr lang="en-US" sz="2800" dirty="0"/>
          </a:p>
        </p:txBody>
      </p:sp>
      <p:sp>
        <p:nvSpPr>
          <p:cNvPr id="3" name="s8-subtitle"/>
          <p:cNvSpPr/>
          <p:nvPr/>
        </p:nvSpPr>
        <p:spPr>
          <a:xfrm>
            <a:off x="640080" y="1508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Avant de parler d'un projet complet, on peut préparer une première maquette.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Vous voyez concrètement à quoi votre présence en ligne pourrait ressembler.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Ensuite seulement, vous décidez si ça vaut la peine d'aller plus loin.</a:t>
            </a:r>
            <a:endParaRPr lang="en-US" sz="1300" dirty="0"/>
          </a:p>
        </p:txBody>
      </p:sp>
      <p:pic>
        <p:nvPicPr>
          <p:cNvPr id="4" name="s8-mockup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4389120" cy="2834640"/>
          </a:xfrm>
          <a:prstGeom prst="rect">
            <a:avLst/>
          </a:prstGeom>
        </p:spPr>
      </p:pic>
      <p:sp>
        <p:nvSpPr>
          <p:cNvPr id="5" name="s8-step-0"/>
          <p:cNvSpPr/>
          <p:nvPr/>
        </p:nvSpPr>
        <p:spPr>
          <a:xfrm>
            <a:off x="5486400" y="237744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2C2C2E">
              <a:alpha val="7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8-step-num-0"/>
          <p:cNvSpPr/>
          <p:nvPr/>
        </p:nvSpPr>
        <p:spPr>
          <a:xfrm>
            <a:off x="562356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F06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8-step-text-0"/>
          <p:cNvSpPr/>
          <p:nvPr/>
        </p:nvSpPr>
        <p:spPr>
          <a:xfrm>
            <a:off x="5989320" y="2468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 comprend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votre activité</a:t>
            </a:r>
            <a:endParaRPr lang="en-US" sz="1100" dirty="0"/>
          </a:p>
        </p:txBody>
      </p:sp>
      <p:sp>
        <p:nvSpPr>
          <p:cNvPr id="8" name="s8-step-1"/>
          <p:cNvSpPr/>
          <p:nvPr/>
        </p:nvSpPr>
        <p:spPr>
          <a:xfrm>
            <a:off x="5486400" y="342900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2C2C2E">
              <a:alpha val="7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8-step-num-1"/>
          <p:cNvSpPr/>
          <p:nvPr/>
        </p:nvSpPr>
        <p:spPr>
          <a:xfrm>
            <a:off x="56235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F06A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8-step-text-1"/>
          <p:cNvSpPr/>
          <p:nvPr/>
        </p:nvSpPr>
        <p:spPr>
          <a:xfrm>
            <a:off x="598932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 crée une première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direction visuelle</a:t>
            </a:r>
            <a:endParaRPr lang="en-US" sz="1100" dirty="0"/>
          </a:p>
        </p:txBody>
      </p:sp>
      <p:sp>
        <p:nvSpPr>
          <p:cNvPr id="11" name="s8-step-2"/>
          <p:cNvSpPr/>
          <p:nvPr/>
        </p:nvSpPr>
        <p:spPr>
          <a:xfrm>
            <a:off x="5486400" y="448056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2C2C2E">
              <a:alpha val="7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8-step-num-2"/>
          <p:cNvSpPr/>
          <p:nvPr/>
        </p:nvSpPr>
        <p:spPr>
          <a:xfrm>
            <a:off x="562356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F06A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8-step-text-2"/>
          <p:cNvSpPr/>
          <p:nvPr/>
        </p:nvSpPr>
        <p:spPr>
          <a:xfrm>
            <a:off x="598932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Vous décidez si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 continue</a:t>
            </a:r>
            <a:endParaRPr lang="en-US" sz="1100" dirty="0"/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4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10" presetClass="entr" presetSubtype="0" fill="hold" grpId="3" nodeType="withEffect">
                      <p:stCondLst>
                        <p:cond delay="900"/>
                      </p:stCondLst>
                      <p:childTnLst>
                        <p:set>
                          <p:cBhvr>
                            <p:cTn id="10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8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2" presetClass="entr" presetSubtype="1" fill="hold" grpId="4" nodeType="withEffect">
                      <p:stCondLst>
                        <p:cond delay="150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2" dur="800" fill="hold"/>
                            <p:tgtEl>
                              <p:spTgt spid="5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3" dur="800" fill="hold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14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5" dur="800" fill="hold"/>
                            <p:tgtEl>
                              <p:spTgt spid="6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6" dur="800" fill="hold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117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8" dur="80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19" dur="8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2" presetClass="entr" presetSubtype="1" fill="hold" grpId="5" nodeType="withEffect">
                      <p:stCondLst>
                        <p:cond delay="2000"/>
                      </p:stCondLst>
                      <p:childTnLst>
                        <p:set>
                          <p:cBhvr>
                            <p:cTn id="121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2" dur="800" fill="hold"/>
                            <p:tgtEl>
                              <p:spTgt spid="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3" dur="80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124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5" dur="80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6" dur="800" fill="hold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12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28" dur="80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29" dur="80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2" presetClass="entr" presetSubtype="1" fill="hold" grpId="6" nodeType="withEffect">
                      <p:stCondLst>
                        <p:cond delay="2500"/>
                      </p:stCondLst>
                      <p:childTnLst>
                        <p:set>
                          <p:cBhvr>
                            <p:cTn id="13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2" dur="80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3" dur="80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4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5" dur="800" fill="hold"/>
                            <p:tgtEl>
                              <p:spTgt spid="12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6" dur="800" fill="hold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137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38" dur="800" fill="hold"/>
                            <p:tgtEl>
                              <p:spTgt spid="1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-.5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Effect transition="in" filter="fade">
                          <p:cBhvr>
                            <p:cTn id="139" dur="80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-title"/>
          <p:cNvSpPr/>
          <p:nvPr/>
        </p:nvSpPr>
        <p:spPr>
          <a:xfrm>
            <a:off x="640080" y="5029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Votre entreprise existe déjà.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Notre travail, c'est de la rendre évidente en ligne.</a:t>
            </a:r>
            <a:endParaRPr lang="en-US" sz="3000" dirty="0"/>
          </a:p>
        </p:txBody>
      </p:sp>
      <p:sp>
        <p:nvSpPr>
          <p:cNvPr id="3" name="s9-subtitle"/>
          <p:cNvSpPr/>
          <p:nvPr/>
        </p:nvSpPr>
        <p:spPr>
          <a:xfrm>
            <a:off x="640080" y="2011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 quelqu'un vous cherche, il doit comprendre en quelques secondes pourquoi il peut vous faire confiance.</a:t>
            </a:r>
            <a:endParaRPr lang="en-US" sz="1200" dirty="0"/>
          </a:p>
        </p:txBody>
      </p:sp>
      <p:sp>
        <p:nvSpPr>
          <p:cNvPr id="4" name="s9-cta"/>
          <p:cNvSpPr/>
          <p:nvPr/>
        </p:nvSpPr>
        <p:spPr>
          <a:xfrm>
            <a:off x="64008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F06A"/>
                </a:solidFill>
              </a:rPr>
              <a:t>Zerosix — Sites premium pour entreprises ambitieuses</a:t>
            </a:r>
            <a:endParaRPr lang="en-US" sz="1100" dirty="0"/>
          </a:p>
        </p:txBody>
      </p:sp>
      <p:sp>
        <p:nvSpPr>
          <p:cNvPr id="5" name="s9-glow"/>
          <p:cNvSpPr/>
          <p:nvPr/>
        </p:nvSpPr>
        <p:spPr>
          <a:xfrm>
            <a:off x="6217920" y="1828800"/>
            <a:ext cx="2286000" cy="2286000"/>
          </a:xfrm>
          <a:prstGeom prst="ellipse">
            <a:avLst/>
          </a:prstGeom>
          <a:solidFill>
            <a:srgbClr val="1DF06A">
              <a:alpha val="8000"/>
            </a:srgbClr>
          </a:solidFill>
          <a:ln w="12700">
            <a:solidFill>
              <a:srgbClr val="1DF06A">
                <a:alpha val="0"/>
              </a:srgbClr>
            </a:solidFill>
            <a:prstDash val="solid"/>
          </a:ln>
        </p:spPr>
      </p:sp>
      <p:pic>
        <p:nvPicPr>
          <p:cNvPr id="6" name="s9-phone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45920"/>
            <a:ext cx="1920240" cy="3840480"/>
          </a:xfrm>
          <a:prstGeom prst="rect">
            <a:avLst/>
          </a:prstGeom>
        </p:spPr>
      </p:pic>
      <p:pic>
        <p:nvPicPr>
          <p:cNvPr id="7" name="s9-logo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89120"/>
            <a:ext cx="2011680" cy="50292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presetID="10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" dur="80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" presetID="10" presetClass="entr" presetSubtype="0" fill="hold" grpId="2" nodeType="withEffect">
                      <p:stCondLst>
                        <p:cond delay="600"/>
                      </p:stCondLst>
                      <p:childTnLst>
                        <p:set>
                          <p:cBhvr>
                            <p:cTn id="105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" dur="80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10" presetClass="entr" presetSubtype="0" fill="hold" grpId="3" nodeType="withEffect">
                      <p:stCondLst>
                        <p:cond delay="1100"/>
                      </p:stCondLst>
                      <p:childTnLst>
                        <p:set>
                          <p:cBhvr>
                            <p:cTn id="108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80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grpId="4" nodeType="withEffect">
                      <p:stCondLst>
                        <p:cond delay="1600"/>
                      </p:stCondLst>
                      <p:childTnLst>
                        <p:set>
                          <p:cBhvr>
                            <p:cTn id="11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8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3" presetID="53" presetClass="entr" presetSubtype="0" fill="hold" grpId="5" nodeType="withEffect">
                      <p:stCondLst>
                        <p:cond delay="1800"/>
                      </p:stCondLst>
                      <p:childTnLst>
                        <p:set>
                          <p:cBhvr>
                            <p:cTn id="114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Scale>
                          <p:cBhvr>
                            <p:cTn id="115" dur="800" fill="hold"/>
                            <p:tgtEl>
                              <p:spTgt spid="6"/>
                            </p:tgtEl>
                          </p:cBhvr>
                          <p:to>
                            <p:strVal val="110%"/>
                          </p:to>
                        </p:animScale>
                        <p:animEffect transition="in" filter="fade">
                          <p:cBhvr>
                            <p:cTn id="117" dur="80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8" presetID="10" presetClass="entr" presetSubtype="0" fill="hold" grpId="6" nodeType="withEffect">
                      <p:stCondLst>
                        <p:cond delay="2600"/>
                      </p:stCondLst>
                      <p:childTnLst>
                        <p:set>
                          <p:cBhvr>
                            <p:cTn id="11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0" dur="80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Zerosix — Première impression en ligne</dc:title>
  <dc:subject>Pitch clients sans site internet</dc:subject>
  <dc:creator>Zerosix</dc:creator>
  <cp:lastModifiedBy>Zerosix</cp:lastModifiedBy>
  <cp:revision>1</cp:revision>
  <dcterms:created xsi:type="dcterms:W3CDTF">2026-06-29T15:32:54Z</dcterms:created>
  <dcterms:modified xsi:type="dcterms:W3CDTF">2026-06-29T15:32:54Z</dcterms:modified>
</cp:coreProperties>
</file>